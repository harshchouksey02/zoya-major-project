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4A90E2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01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  <a:latin typeface="Georgia"/>
              </a:defRPr>
            </a:pPr>
            <a:r>
              <a:t>AgroVeda</a:t>
            </a:r>
          </a:p>
          <a:p>
            <a:pPr algn="ctr">
              <a:spcBef>
                <a:spcPts val="1000"/>
              </a:spcBef>
              <a:defRPr sz="2800">
                <a:solidFill>
                  <a:srgbClr val="4A90E2"/>
                </a:solidFill>
                <a:latin typeface="Arial"/>
              </a:defRPr>
            </a:pPr>
            <a:r>
              <a:t>E-Commerce Platform for Agricultural Products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4114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A90E2"/>
                </a:solidFill>
                <a:latin typeface="Arial"/>
              </a:defRPr>
            </a:pPr>
            <a:r>
              <a:t>Submitted By:</a:t>
            </a:r>
          </a:p>
          <a:p>
            <a:pPr>
              <a:spcBef>
                <a:spcPts val="500"/>
              </a:spcBef>
              <a:defRPr sz="1400">
                <a:solidFill>
                  <a:srgbClr val="FFFFFF"/>
                </a:solidFill>
                <a:latin typeface="Arial"/>
              </a:defRPr>
            </a:pPr>
            <a:r>
              <a:t>ZOYA IBRAHIM</a:t>
            </a:r>
          </a:p>
          <a:p>
            <a:pPr>
              <a:spcBef>
                <a:spcPts val="500"/>
              </a:spcBef>
              <a:defRPr sz="1400">
                <a:solidFill>
                  <a:srgbClr val="FFFFFF"/>
                </a:solidFill>
                <a:latin typeface="Arial"/>
              </a:defRPr>
            </a:pPr>
            <a:r>
              <a:t>Enrollment No: 0210CA241134</a:t>
            </a:r>
          </a:p>
          <a:p>
            <a:pPr>
              <a:spcBef>
                <a:spcPts val="500"/>
              </a:spcBef>
              <a:defRPr sz="1400">
                <a:solidFill>
                  <a:srgbClr val="FFFFFF"/>
                </a:solidFill>
                <a:latin typeface="Arial"/>
              </a:defRPr>
            </a:pPr>
            <a:r>
              <a:t>4th Semester MCA | Session 2025-26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2552" y="3474720"/>
            <a:ext cx="4114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A90E2"/>
                </a:solidFill>
                <a:latin typeface="Arial"/>
              </a:defRPr>
            </a:pPr>
            <a:r>
              <a:t>Under the Guidance of:</a:t>
            </a:r>
          </a:p>
          <a:p>
            <a:pPr>
              <a:spcBef>
                <a:spcPts val="500"/>
              </a:spcBef>
              <a:defRPr sz="1400">
                <a:solidFill>
                  <a:srgbClr val="FFFFFF"/>
                </a:solidFill>
                <a:latin typeface="Arial"/>
              </a:defRPr>
            </a:pPr>
            <a:r>
              <a:t>Prof. Sachin Dubey</a:t>
            </a:r>
          </a:p>
          <a:p>
            <a:pPr>
              <a:spcBef>
                <a:spcPts val="500"/>
              </a:spcBef>
              <a:defRPr sz="1400">
                <a:solidFill>
                  <a:srgbClr val="FFFFFF"/>
                </a:solidFill>
                <a:latin typeface="Arial"/>
              </a:defRPr>
            </a:pPr>
            <a:r>
              <a:t>Department of MCA</a:t>
            </a:r>
          </a:p>
          <a:p>
            <a:pPr>
              <a:spcBef>
                <a:spcPts val="500"/>
              </a:spcBef>
              <a:defRPr sz="1400">
                <a:solidFill>
                  <a:srgbClr val="FFFFFF"/>
                </a:solidFill>
                <a:latin typeface="Arial"/>
              </a:defRPr>
            </a:pPr>
            <a:r>
              <a:t>Shri Ram Institute of Technology, Jabalpur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167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4A90E2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16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0A0"/>
                </a:solidFill>
                <a:latin typeface="Arial"/>
              </a:defRPr>
            </a:pPr>
            <a:r>
              <a:t>AgroVeda MCA Major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03030"/>
                </a:solidFill>
                <a:latin typeface="Arial"/>
              </a:defRPr>
            </a:pPr>
            <a:r>
              <a:t>• Project Introduction &amp; Domain Overview</a:t>
            </a:r>
          </a:p>
          <a:p>
            <a:pPr>
              <a:spcAft>
                <a:spcPts val="1400"/>
              </a:spcAft>
              <a:defRPr sz="2000">
                <a:solidFill>
                  <a:srgbClr val="303030"/>
                </a:solidFill>
                <a:latin typeface="Arial"/>
              </a:defRPr>
            </a:pPr>
            <a:r>
              <a:t>• Problem Statement &amp; Project Objectives</a:t>
            </a:r>
          </a:p>
          <a:p>
            <a:pPr>
              <a:spcAft>
                <a:spcPts val="1400"/>
              </a:spcAft>
              <a:defRPr sz="2000">
                <a:solidFill>
                  <a:srgbClr val="303030"/>
                </a:solidFill>
                <a:latin typeface="Arial"/>
              </a:defRPr>
            </a:pPr>
            <a:r>
              <a:t>• Analysis of Existing vs. Proposed System</a:t>
            </a:r>
          </a:p>
          <a:p>
            <a:pPr>
              <a:spcAft>
                <a:spcPts val="1400"/>
              </a:spcAft>
              <a:defRPr sz="2000">
                <a:solidFill>
                  <a:srgbClr val="303030"/>
                </a:solidFill>
                <a:latin typeface="Arial"/>
              </a:defRPr>
            </a:pPr>
            <a:r>
              <a:t>• System Architecture, Workflows &amp; Tech Stack</a:t>
            </a:r>
          </a:p>
          <a:p>
            <a:pPr>
              <a:spcAft>
                <a:spcPts val="1400"/>
              </a:spcAft>
              <a:defRPr sz="2000">
                <a:solidFill>
                  <a:srgbClr val="303030"/>
                </a:solidFill>
                <a:latin typeface="Arial"/>
              </a:defRPr>
            </a:pPr>
            <a:r>
              <a:t>• Database Design &amp; UML Activity Modeling</a:t>
            </a:r>
          </a:p>
          <a:p>
            <a:pPr>
              <a:spcAft>
                <a:spcPts val="1400"/>
              </a:spcAft>
              <a:defRPr sz="2000">
                <a:solidFill>
                  <a:srgbClr val="303030"/>
                </a:solidFill>
                <a:latin typeface="Arial"/>
              </a:defRPr>
            </a:pPr>
            <a:r>
              <a:t>• Core Code Algorithms &amp; Security Implementations</a:t>
            </a:r>
          </a:p>
          <a:p>
            <a:pPr>
              <a:spcAft>
                <a:spcPts val="1400"/>
              </a:spcAft>
              <a:defRPr sz="2000">
                <a:solidFill>
                  <a:srgbClr val="303030"/>
                </a:solidFill>
                <a:latin typeface="Arial"/>
              </a:defRPr>
            </a:pPr>
            <a:r>
              <a:t>• Admin Order &amp; Sales Registry (Dashboard Demonstration)</a:t>
            </a:r>
          </a:p>
          <a:p>
            <a:pPr>
              <a:spcAft>
                <a:spcPts val="1400"/>
              </a:spcAft>
              <a:defRPr sz="2000">
                <a:solidFill>
                  <a:srgbClr val="303030"/>
                </a:solidFill>
                <a:latin typeface="Arial"/>
              </a:defRPr>
            </a:pPr>
            <a:r>
              <a:t>• Advantages, Future Scope &amp; Conclusions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167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Project 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4A90E2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16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0A0"/>
                </a:solidFill>
                <a:latin typeface="Arial"/>
              </a:defRPr>
            </a:pPr>
            <a:r>
              <a:t>AgroVeda MCA Major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303030"/>
                </a:solidFill>
                <a:latin typeface="Arial"/>
              </a:defRPr>
            </a:pPr>
            <a:r>
              <a:t>• Agriculture is the backbone of the Indian economy, employing over 50% of the workforce, but digital input procurement remains highly unstructured.</a:t>
            </a:r>
          </a:p>
          <a:p>
            <a:pPr>
              <a:spcAft>
                <a:spcPts val="1400"/>
              </a:spcAft>
              <a:defRPr sz="1600">
                <a:solidFill>
                  <a:srgbClr val="303030"/>
                </a:solidFill>
                <a:latin typeface="Arial"/>
              </a:defRPr>
            </a:pPr>
            <a:r>
              <a:t>• Traditional channels rely on local physical retail dealers, leading to long travel distances, lack of inventory selection, and high pricing markups.</a:t>
            </a:r>
          </a:p>
          <a:p>
            <a:pPr>
              <a:spcAft>
                <a:spcPts val="1400"/>
              </a:spcAft>
              <a:defRPr sz="1600">
                <a:solidFill>
                  <a:srgbClr val="303030"/>
                </a:solidFill>
                <a:latin typeface="Arial"/>
              </a:defRPr>
            </a:pPr>
            <a:r>
              <a:t>• AgroVeda is a full-stack agricultural e-commerce platform designed to bridge this digital divide.</a:t>
            </a:r>
          </a:p>
          <a:p>
            <a:pPr>
              <a:spcAft>
                <a:spcPts val="1400"/>
              </a:spcAft>
              <a:defRPr sz="1600">
                <a:solidFill>
                  <a:srgbClr val="303030"/>
                </a:solidFill>
                <a:latin typeface="Arial"/>
              </a:defRPr>
            </a:pPr>
            <a:r>
              <a:t>• Enables farmers and cooperatives to purchase quality pesticides, fertilizers, growth regulators, and crop boosters directly from their mobile devices.</a:t>
            </a:r>
          </a:p>
          <a:p>
            <a:pPr>
              <a:spcAft>
                <a:spcPts val="1400"/>
              </a:spcAft>
              <a:defRPr sz="1600">
                <a:solidFill>
                  <a:srgbClr val="303030"/>
                </a:solidFill>
                <a:latin typeface="Arial"/>
              </a:defRPr>
            </a:pPr>
            <a:r>
              <a:t>• Designed with a dual-language (Hindi/English) catalog interface to ensure high accessibility for rural farmers.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167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4A90E2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16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0A0"/>
                </a:solidFill>
                <a:latin typeface="Arial"/>
              </a:defRPr>
            </a:pPr>
            <a:r>
              <a:t>AgroVeda MCA Major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303030"/>
                </a:solidFill>
                <a:latin typeface="Arial"/>
              </a:defRPr>
            </a:pPr>
            <a:r>
              <a:t>• Middlemen Inefficiencies: Complex retail dealership networks result in high markup prices for vital chemicals/boosters.</a:t>
            </a:r>
          </a:p>
          <a:p>
            <a:pPr>
              <a:spcAft>
                <a:spcPts val="1400"/>
              </a:spcAft>
              <a:defRPr sz="1600">
                <a:solidFill>
                  <a:srgbClr val="303030"/>
                </a:solidFill>
                <a:latin typeface="Arial"/>
              </a:defRPr>
            </a:pPr>
            <a:r>
              <a:t>• Asymmetric Information: Farmers lack transparent pricing and have no direct way to compare product ingredients and specifications.</a:t>
            </a:r>
          </a:p>
          <a:p>
            <a:pPr>
              <a:spcAft>
                <a:spcPts val="1400"/>
              </a:spcAft>
              <a:defRPr sz="1600">
                <a:solidFill>
                  <a:srgbClr val="303030"/>
                </a:solidFill>
                <a:latin typeface="Arial"/>
              </a:defRPr>
            </a:pPr>
            <a:r>
              <a:t>• Language Barrier: Most commercial e-commerce portals are in English, excluding the major demographic of Hindi-speaking rural farmers.</a:t>
            </a:r>
          </a:p>
          <a:p>
            <a:pPr>
              <a:spcAft>
                <a:spcPts val="1400"/>
              </a:spcAft>
              <a:defRPr sz="1600">
                <a:solidFill>
                  <a:srgbClr val="303030"/>
                </a:solidFill>
                <a:latin typeface="Arial"/>
              </a:defRPr>
            </a:pPr>
            <a:r>
              <a:t>• Logistical Overhead: Farmers travel multiple kilometers to towns without guarantee of stock availability, leading to wasted time and labor.</a:t>
            </a:r>
          </a:p>
          <a:p>
            <a:pPr>
              <a:spcAft>
                <a:spcPts val="1400"/>
              </a:spcAft>
              <a:defRPr sz="1600">
                <a:solidFill>
                  <a:srgbClr val="303030"/>
                </a:solidFill>
                <a:latin typeface="Arial"/>
              </a:defRPr>
            </a:pPr>
            <a:r>
              <a:t>• Trust &amp; Payment Issues: Absence of cash-on-delivery options or simplified, secure local digital billing gateways (e.g. Razorpay UPI QR simulation).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167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4A90E2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16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0A0"/>
                </a:solidFill>
                <a:latin typeface="Arial"/>
              </a:defRPr>
            </a:pPr>
            <a:r>
              <a:t>AgroVeda MCA Major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303030"/>
                </a:solidFill>
                <a:latin typeface="Arial"/>
              </a:defRPr>
            </a:pPr>
            <a:r>
              <a:t>• Develop a responsive, full-stack, mobile-friendly agricultural input e-commerce portal.</a:t>
            </a:r>
          </a:p>
          <a:p>
            <a:pPr>
              <a:spcAft>
                <a:spcPts val="1400"/>
              </a:spcAft>
              <a:defRPr sz="1600">
                <a:solidFill>
                  <a:srgbClr val="303030"/>
                </a:solidFill>
                <a:latin typeface="Arial"/>
              </a:defRPr>
            </a:pPr>
            <a:r>
              <a:t>• Implement a bilingual interface (English and Hindi) for seamless navigation and product catalogs.</a:t>
            </a:r>
          </a:p>
          <a:p>
            <a:pPr>
              <a:spcAft>
                <a:spcPts val="1400"/>
              </a:spcAft>
              <a:defRPr sz="1600">
                <a:solidFill>
                  <a:srgbClr val="303030"/>
                </a:solidFill>
                <a:latin typeface="Arial"/>
              </a:defRPr>
            </a:pPr>
            <a:r>
              <a:t>• Create a secure, JWT-authenticated User Registration and Login system.</a:t>
            </a:r>
          </a:p>
          <a:p>
            <a:pPr>
              <a:spcAft>
                <a:spcPts val="1400"/>
              </a:spcAft>
              <a:defRPr sz="1600">
                <a:solidFill>
                  <a:srgbClr val="303030"/>
                </a:solidFill>
                <a:latin typeface="Arial"/>
              </a:defRPr>
            </a:pPr>
            <a:r>
              <a:t>• Integrate Razorpay payment gateway simulation for UPI, debit/credit cards, alongside a Cash on Delivery (COD) workflow.</a:t>
            </a:r>
          </a:p>
          <a:p>
            <a:pPr>
              <a:spcAft>
                <a:spcPts val="1400"/>
              </a:spcAft>
              <a:defRPr sz="1600">
                <a:solidFill>
                  <a:srgbClr val="303030"/>
                </a:solidFill>
                <a:latin typeface="Arial"/>
              </a:defRPr>
            </a:pPr>
            <a:r>
              <a:t>• Construct a secure Admin Dashboard enabling product CRUD operations (Add, delete, update pricing) and a real-time Orders &amp; Sales Summary monitor to track who purchased, order timestamps, and items summary.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167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Existing System &amp; Drawbacks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4A90E2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16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0A0"/>
                </a:solidFill>
                <a:latin typeface="Arial"/>
              </a:defRPr>
            </a:pPr>
            <a:r>
              <a:t>AgroVeda MCA Major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B365D"/>
                </a:solidFill>
                <a:latin typeface="Arial"/>
              </a:defRPr>
            </a:pPr>
            <a:r>
              <a:t>Current Traditional System</a:t>
            </a:r>
          </a:p>
          <a:p>
            <a:pPr>
              <a:spcAft>
                <a:spcPts val="1000"/>
              </a:spcAft>
              <a:defRPr sz="1600">
                <a:solidFill>
                  <a:srgbClr val="303030"/>
                </a:solidFill>
                <a:latin typeface="Arial"/>
              </a:defRPr>
            </a:pPr>
            <a:r>
              <a:t>• Procurement through local village or town shops.</a:t>
            </a:r>
          </a:p>
          <a:p>
            <a:pPr>
              <a:spcAft>
                <a:spcPts val="1000"/>
              </a:spcAft>
              <a:defRPr sz="1600">
                <a:solidFill>
                  <a:srgbClr val="303030"/>
                </a:solidFill>
                <a:latin typeface="Arial"/>
              </a:defRPr>
            </a:pPr>
            <a:r>
              <a:t>• Rely on word-of-mouth recommendations from shop owners.</a:t>
            </a:r>
          </a:p>
          <a:p>
            <a:pPr>
              <a:spcAft>
                <a:spcPts val="1000"/>
              </a:spcAft>
              <a:defRPr sz="1600">
                <a:solidFill>
                  <a:srgbClr val="303030"/>
                </a:solidFill>
                <a:latin typeface="Arial"/>
              </a:defRPr>
            </a:pPr>
            <a:r>
              <a:t>• Manual bookkeeping (paper invoices) with no transaction histories.</a:t>
            </a:r>
          </a:p>
          <a:p>
            <a:pPr>
              <a:spcAft>
                <a:spcPts val="1000"/>
              </a:spcAft>
              <a:defRPr sz="1600">
                <a:solidFill>
                  <a:srgbClr val="303030"/>
                </a:solidFill>
                <a:latin typeface="Arial"/>
              </a:defRPr>
            </a:pPr>
            <a:r>
              <a:t>• Cash-only transactions with high markup commissions.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B365D"/>
                </a:solidFill>
                <a:latin typeface="Arial"/>
              </a:defRPr>
            </a:pPr>
            <a:r>
              <a:t>Key Critical Drawbacks</a:t>
            </a:r>
          </a:p>
          <a:p>
            <a:pPr>
              <a:spcAft>
                <a:spcPts val="1000"/>
              </a:spcAft>
              <a:defRPr sz="1600">
                <a:solidFill>
                  <a:srgbClr val="303030"/>
                </a:solidFill>
                <a:latin typeface="Arial"/>
              </a:defRPr>
            </a:pPr>
            <a:r>
              <a:t>• Limited catalog variety based on shop keeper's preferences.</a:t>
            </a:r>
          </a:p>
          <a:p>
            <a:pPr>
              <a:spcAft>
                <a:spcPts val="1000"/>
              </a:spcAft>
              <a:defRPr sz="1600">
                <a:solidFill>
                  <a:srgbClr val="303030"/>
                </a:solidFill>
                <a:latin typeface="Arial"/>
              </a:defRPr>
            </a:pPr>
            <a:r>
              <a:t>• Lack of pricing transparency (varying prices across different shops).</a:t>
            </a:r>
          </a:p>
          <a:p>
            <a:pPr>
              <a:spcAft>
                <a:spcPts val="1000"/>
              </a:spcAft>
              <a:defRPr sz="1600">
                <a:solidFill>
                  <a:srgbClr val="303030"/>
                </a:solidFill>
                <a:latin typeface="Arial"/>
              </a:defRPr>
            </a:pPr>
            <a:r>
              <a:t>• Wasted labor and transportation costs traveling to local dealers.</a:t>
            </a:r>
          </a:p>
          <a:p>
            <a:pPr>
              <a:spcAft>
                <a:spcPts val="1000"/>
              </a:spcAft>
              <a:defRPr sz="1600">
                <a:solidFill>
                  <a:srgbClr val="303030"/>
                </a:solidFill>
                <a:latin typeface="Arial"/>
              </a:defRPr>
            </a:pPr>
            <a:r>
              <a:t>• No digital bills, order tracking, or verification receipts.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167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Proposed System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4A90E2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16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0A0"/>
                </a:solidFill>
                <a:latin typeface="Arial"/>
              </a:defRPr>
            </a:pPr>
            <a:r>
              <a:t>AgroVeda MCA Major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303030"/>
                </a:solidFill>
                <a:latin typeface="Arial"/>
              </a:defRPr>
            </a:pPr>
            <a:r>
              <a:t>• Centralized E-Commerce Hub: Direct platform connecting farmers with catalog listings.</a:t>
            </a:r>
          </a:p>
          <a:p>
            <a:pPr>
              <a:spcAft>
                <a:spcPts val="1400"/>
              </a:spcAft>
              <a:defRPr sz="1600">
                <a:solidFill>
                  <a:srgbClr val="303030"/>
                </a:solidFill>
                <a:latin typeface="Arial"/>
              </a:defRPr>
            </a:pPr>
            <a:r>
              <a:t>• Hindi/English Support: Easy-toggle language context supporting titles and descriptions.</a:t>
            </a:r>
          </a:p>
          <a:p>
            <a:pPr>
              <a:spcAft>
                <a:spcPts val="1400"/>
              </a:spcAft>
              <a:defRPr sz="1600">
                <a:solidFill>
                  <a:srgbClr val="303030"/>
                </a:solidFill>
                <a:latin typeface="Arial"/>
              </a:defRPr>
            </a:pPr>
            <a:r>
              <a:t>• Secure Cart &amp; Order Lifecycles: Full workflow covering add-to-cart, quantity updates, order summary validations, and automated billing details.</a:t>
            </a:r>
          </a:p>
          <a:p>
            <a:pPr>
              <a:spcAft>
                <a:spcPts val="1400"/>
              </a:spcAft>
              <a:defRPr sz="1600">
                <a:solidFill>
                  <a:srgbClr val="303030"/>
                </a:solidFill>
                <a:latin typeface="Arial"/>
              </a:defRPr>
            </a:pPr>
            <a:r>
              <a:t>• Simulated Payment Gateways: Integration with Razorpay API (with instant QR scan/simulate-success testing modal).</a:t>
            </a:r>
          </a:p>
          <a:p>
            <a:pPr>
              <a:spcAft>
                <a:spcPts val="1400"/>
              </a:spcAft>
              <a:defRPr sz="1600">
                <a:solidFill>
                  <a:srgbClr val="303030"/>
                </a:solidFill>
                <a:latin typeface="Arial"/>
              </a:defRPr>
            </a:pPr>
            <a:r>
              <a:t>• Interactive Admin CRM Dashboard: Real-time Order Registry logging customer mobile, timestamp of purchase, shipping address, total sales revenue statistics, and order items summary.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167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4A90E2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16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0A0"/>
                </a:solidFill>
                <a:latin typeface="Arial"/>
              </a:defRPr>
            </a:pPr>
            <a:r>
              <a:t>AgroVeda MCA Major Project</a:t>
            </a:r>
          </a:p>
        </p:txBody>
      </p:sp>
      <p:pic>
        <p:nvPicPr>
          <p:cNvPr id="6" name="Picture 5" descr="dfd_level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486400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0" y="16459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03030"/>
                </a:solidFill>
                <a:latin typeface="Arial"/>
              </a:defRPr>
            </a:pPr>
            <a:r>
              <a:t>• Model-View-Controller (MVC) architectural design pattern deployed.</a:t>
            </a:r>
          </a:p>
          <a:p>
            <a:pPr>
              <a:spcAft>
                <a:spcPts val="1200"/>
              </a:spcAft>
              <a:defRPr sz="1600">
                <a:solidFill>
                  <a:srgbClr val="303030"/>
                </a:solidFill>
                <a:latin typeface="Arial"/>
              </a:defRPr>
            </a:pPr>
            <a:r>
              <a:t>• Client-Side View: Single Page Application (SPA) built using React 18, TypeScript, and Vite for fast builds and components render.</a:t>
            </a:r>
          </a:p>
          <a:p>
            <a:pPr>
              <a:spcAft>
                <a:spcPts val="1200"/>
              </a:spcAft>
              <a:defRPr sz="1600">
                <a:solidFill>
                  <a:srgbClr val="303030"/>
                </a:solidFill>
                <a:latin typeface="Arial"/>
              </a:defRPr>
            </a:pPr>
            <a:r>
              <a:t>• Server-Side Controller: Express.js (Node.js) serving REST endpoints (/api/products, /api/orders, /api/cart_items) deployed as serverless functions.</a:t>
            </a:r>
          </a:p>
          <a:p>
            <a:pPr>
              <a:spcAft>
                <a:spcPts val="1200"/>
              </a:spcAft>
              <a:defRPr sz="1600">
                <a:solidFill>
                  <a:srgbClr val="303030"/>
                </a:solidFill>
                <a:latin typeface="Arial"/>
              </a:defRPr>
            </a:pPr>
            <a:r>
              <a:t>• Database Layer: Relational PostgreSQL database managed with an active connection pool, utilizing a local file-based JSON database engine fallback for offline local testing.</a:t>
            </a:r>
          </a:p>
          <a:p>
            <a:pPr>
              <a:spcAft>
                <a:spcPts val="1200"/>
              </a:spcAft>
              <a:defRPr sz="1600">
                <a:solidFill>
                  <a:srgbClr val="303030"/>
                </a:solidFill>
                <a:latin typeface="Arial"/>
              </a:defRPr>
            </a:pPr>
            <a:r>
              <a:t>• Security Shield: Cross-Origin Resource Sharing (CORS) configurations, bcrypt password salting, and JSON Web Token (JWT) header authorization check.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167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Methodology &amp; Development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4A90E2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16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0A0"/>
                </a:solidFill>
                <a:latin typeface="Arial"/>
              </a:defRPr>
            </a:pPr>
            <a:r>
              <a:t>AgroVeda MCA Major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03030"/>
                </a:solidFill>
                <a:latin typeface="Arial"/>
              </a:defRPr>
            </a:pPr>
            <a:r>
              <a:t>• Agile Scrum Methodology implemented, divided into 6 distinct sprints over 20 days:</a:t>
            </a:r>
          </a:p>
          <a:p>
            <a:pPr>
              <a:spcAft>
                <a:spcPts val="1400"/>
              </a:spcAft>
              <a:defRPr sz="1400">
                <a:solidFill>
                  <a:srgbClr val="303030"/>
                </a:solidFill>
                <a:latin typeface="Arial"/>
              </a:defRPr>
            </a:pPr>
            <a:r>
              <a:t>• Sprint 1 (Days 1-3): Project Setup &amp; DB Schema Design. Setup Vite frontend scaffolding and local Express API route definitions.</a:t>
            </a:r>
          </a:p>
          <a:p>
            <a:pPr>
              <a:spcAft>
                <a:spcPts val="1400"/>
              </a:spcAft>
              <a:defRPr sz="1400">
                <a:solidFill>
                  <a:srgbClr val="303030"/>
                </a:solidFill>
                <a:latin typeface="Arial"/>
              </a:defRPr>
            </a:pPr>
            <a:r>
              <a:t>• Sprint 2 (Days 4-7): UI Design &amp; Bilingual Integration. Implemented homepage slides, product list filters, and English/Hindi language toggle.</a:t>
            </a:r>
          </a:p>
          <a:p>
            <a:pPr>
              <a:spcAft>
                <a:spcPts val="1400"/>
              </a:spcAft>
              <a:defRPr sz="1400">
                <a:solidFill>
                  <a:srgbClr val="303030"/>
                </a:solidFill>
                <a:latin typeface="Arial"/>
              </a:defRPr>
            </a:pPr>
            <a:r>
              <a:t>• Sprint 3 (Days 8-10): Auth Shield. Built JWT signup, login, password encryption, and role-based route guards.</a:t>
            </a:r>
          </a:p>
          <a:p>
            <a:pPr>
              <a:spcAft>
                <a:spcPts val="1400"/>
              </a:spcAft>
              <a:defRPr sz="1400">
                <a:solidFill>
                  <a:srgbClr val="303030"/>
                </a:solidFill>
                <a:latin typeface="Arial"/>
              </a:defRPr>
            </a:pPr>
            <a:r>
              <a:t>• Sprint 4 (Days 11-14): Cart &amp; Checkout. Added shopping cart store, quantity managers, and address validation forms.</a:t>
            </a:r>
          </a:p>
          <a:p>
            <a:pPr>
              <a:spcAft>
                <a:spcPts val="1400"/>
              </a:spcAft>
              <a:defRPr sz="1400">
                <a:solidFill>
                  <a:srgbClr val="303030"/>
                </a:solidFill>
                <a:latin typeface="Arial"/>
              </a:defRPr>
            </a:pPr>
            <a:r>
              <a:t>• Sprint 5 (Days 15-17): Razorpay Payments. Deployed backend order generation and signature HMAC-SHA256 checking.</a:t>
            </a:r>
          </a:p>
          <a:p>
            <a:pPr>
              <a:spcAft>
                <a:spcPts val="1400"/>
              </a:spcAft>
              <a:defRPr sz="1400">
                <a:solidFill>
                  <a:srgbClr val="303030"/>
                </a:solidFill>
                <a:latin typeface="Arial"/>
              </a:defRPr>
            </a:pPr>
            <a:r>
              <a:t>• Sprint 6 (Days 18-20): Admin Panel, Orders Monitor &amp; Vercel deployment.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167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Technologies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4A90E2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16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0A0"/>
                </a:solidFill>
                <a:latin typeface="Arial"/>
              </a:defRPr>
            </a:pPr>
            <a:r>
              <a:t>AgroVeda MCA Major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B365D"/>
                </a:solidFill>
                <a:latin typeface="Arial"/>
              </a:defRPr>
            </a:pPr>
            <a:r>
              <a:t>Frontend Stack</a:t>
            </a:r>
          </a:p>
          <a:p>
            <a:pPr>
              <a:spcAft>
                <a:spcPts val="1000"/>
              </a:spcAft>
              <a:defRPr sz="1600">
                <a:solidFill>
                  <a:srgbClr val="303030"/>
                </a:solidFill>
                <a:latin typeface="Arial"/>
              </a:defRPr>
            </a:pPr>
            <a:r>
              <a:t>• React 18 &amp; TypeScript (Type-safe components)</a:t>
            </a:r>
          </a:p>
          <a:p>
            <a:pPr>
              <a:spcAft>
                <a:spcPts val="1000"/>
              </a:spcAft>
              <a:defRPr sz="1600">
                <a:solidFill>
                  <a:srgbClr val="303030"/>
                </a:solidFill>
                <a:latin typeface="Arial"/>
              </a:defRPr>
            </a:pPr>
            <a:r>
              <a:t>• Vite (Next-generation bundle tool)</a:t>
            </a:r>
          </a:p>
          <a:p>
            <a:pPr>
              <a:spcAft>
                <a:spcPts val="1000"/>
              </a:spcAft>
              <a:defRPr sz="1600">
                <a:solidFill>
                  <a:srgbClr val="303030"/>
                </a:solidFill>
                <a:latin typeface="Arial"/>
              </a:defRPr>
            </a:pPr>
            <a:r>
              <a:t>• TailwindCSS &amp; Shadcn UI (Custom layout styling)</a:t>
            </a:r>
          </a:p>
          <a:p>
            <a:pPr>
              <a:spcAft>
                <a:spcPts val="1000"/>
              </a:spcAft>
              <a:defRPr sz="1600">
                <a:solidFill>
                  <a:srgbClr val="303030"/>
                </a:solidFill>
                <a:latin typeface="Arial"/>
              </a:defRPr>
            </a:pPr>
            <a:r>
              <a:t>• React Router DOM (Routing)</a:t>
            </a:r>
          </a:p>
          <a:p>
            <a:pPr>
              <a:spcAft>
                <a:spcPts val="1000"/>
              </a:spcAft>
              <a:defRPr sz="1600">
                <a:solidFill>
                  <a:srgbClr val="303030"/>
                </a:solidFill>
                <a:latin typeface="Arial"/>
              </a:defRPr>
            </a:pPr>
            <a:r>
              <a:t>• Lucide React (Modern iconography)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B365D"/>
                </a:solidFill>
                <a:latin typeface="Arial"/>
              </a:defRPr>
            </a:pPr>
            <a:r>
              <a:t>Backend &amp; Database Stack</a:t>
            </a:r>
          </a:p>
          <a:p>
            <a:pPr>
              <a:spcAft>
                <a:spcPts val="1000"/>
              </a:spcAft>
              <a:defRPr sz="1600">
                <a:solidFill>
                  <a:srgbClr val="303030"/>
                </a:solidFill>
                <a:latin typeface="Arial"/>
              </a:defRPr>
            </a:pPr>
            <a:r>
              <a:t>• Node.js &amp; Express.js (REST API server)</a:t>
            </a:r>
          </a:p>
          <a:p>
            <a:pPr>
              <a:spcAft>
                <a:spcPts val="1000"/>
              </a:spcAft>
              <a:defRPr sz="1600">
                <a:solidFill>
                  <a:srgbClr val="303030"/>
                </a:solidFill>
                <a:latin typeface="Arial"/>
              </a:defRPr>
            </a:pPr>
            <a:r>
              <a:t>• PostgreSQL (ACID-compliant Database)</a:t>
            </a:r>
          </a:p>
          <a:p>
            <a:pPr>
              <a:spcAft>
                <a:spcPts val="1000"/>
              </a:spcAft>
              <a:defRPr sz="1600">
                <a:solidFill>
                  <a:srgbClr val="303030"/>
                </a:solidFill>
                <a:latin typeface="Arial"/>
              </a:defRPr>
            </a:pPr>
            <a:r>
              <a:t>• JSON Web Tokens (JWT) (Authentication)</a:t>
            </a:r>
          </a:p>
          <a:p>
            <a:pPr>
              <a:spcAft>
                <a:spcPts val="1000"/>
              </a:spcAft>
              <a:defRPr sz="1600">
                <a:solidFill>
                  <a:srgbClr val="303030"/>
                </a:solidFill>
                <a:latin typeface="Arial"/>
              </a:defRPr>
            </a:pPr>
            <a:r>
              <a:t>• Bcrypt.js (Password encryption)</a:t>
            </a:r>
          </a:p>
          <a:p>
            <a:pPr>
              <a:spcAft>
                <a:spcPts val="1000"/>
              </a:spcAft>
              <a:defRPr sz="1600">
                <a:solidFill>
                  <a:srgbClr val="303030"/>
                </a:solidFill>
                <a:latin typeface="Arial"/>
              </a:defRPr>
            </a:pPr>
            <a:r>
              <a:t>• Razorpay SDK (Payments gateway integration)</a:t>
            </a:r>
          </a:p>
          <a:p>
            <a:pPr>
              <a:spcAft>
                <a:spcPts val="1000"/>
              </a:spcAft>
              <a:defRPr sz="1600">
                <a:solidFill>
                  <a:srgbClr val="303030"/>
                </a:solidFill>
                <a:latin typeface="Arial"/>
              </a:defRPr>
            </a:pPr>
            <a:r>
              <a:t>• Vercel (Production hosting platform)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167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UML Diagrams - Activity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4A90E2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16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0A0"/>
                </a:solidFill>
                <a:latin typeface="Arial"/>
              </a:defRPr>
            </a:pPr>
            <a:r>
              <a:t>AgroVeda MCA Major Project</a:t>
            </a:r>
          </a:p>
        </p:txBody>
      </p:sp>
      <p:pic>
        <p:nvPicPr>
          <p:cNvPr id="6" name="Picture 5" descr="activity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486400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0" y="16459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03030"/>
                </a:solidFill>
                <a:latin typeface="Arial"/>
              </a:defRPr>
            </a:pPr>
            <a:r>
              <a:t>• This Activity Diagram outlines the execution flow of the Customer checkout and order confirmation process.</a:t>
            </a:r>
          </a:p>
          <a:p>
            <a:pPr>
              <a:spcAft>
                <a:spcPts val="1200"/>
              </a:spcAft>
              <a:defRPr sz="1600">
                <a:solidFill>
                  <a:srgbClr val="303030"/>
                </a:solidFill>
                <a:latin typeface="Arial"/>
              </a:defRPr>
            </a:pPr>
            <a:r>
              <a:t>• Flow triggers on 'Checkout' request.</a:t>
            </a:r>
          </a:p>
          <a:p>
            <a:pPr>
              <a:spcAft>
                <a:spcPts val="1200"/>
              </a:spcAft>
              <a:defRPr sz="1600">
                <a:solidFill>
                  <a:srgbClr val="303030"/>
                </a:solidFill>
                <a:latin typeface="Arial"/>
              </a:defRPr>
            </a:pPr>
            <a:r>
              <a:t>• Validates stock availability by querying Products DB.</a:t>
            </a:r>
          </a:p>
          <a:p>
            <a:pPr>
              <a:spcAft>
                <a:spcPts val="1200"/>
              </a:spcAft>
              <a:defRPr sz="1600">
                <a:solidFill>
                  <a:srgbClr val="303030"/>
                </a:solidFill>
                <a:latin typeface="Arial"/>
              </a:defRPr>
            </a:pPr>
            <a:r>
              <a:t>• Fork Decision: Cash on Delivery (COD) vs. Razorpay Online Payment.</a:t>
            </a:r>
          </a:p>
          <a:p>
            <a:pPr>
              <a:spcAft>
                <a:spcPts val="1200"/>
              </a:spcAft>
              <a:defRPr sz="1600">
                <a:solidFill>
                  <a:srgbClr val="303030"/>
                </a:solidFill>
                <a:latin typeface="Arial"/>
              </a:defRPr>
            </a:pPr>
            <a:r>
              <a:t>• Online payment initiates Razorpay API Order token creation and launches the UI payment widget.</a:t>
            </a:r>
          </a:p>
          <a:p>
            <a:pPr>
              <a:spcAft>
                <a:spcPts val="1200"/>
              </a:spcAft>
              <a:defRPr sz="1600">
                <a:solidFill>
                  <a:srgbClr val="303030"/>
                </a:solidFill>
                <a:latin typeface="Arial"/>
              </a:defRPr>
            </a:pPr>
            <a:r>
              <a:t>• Upon signature verification, order data is committed to the database, cart items are cleared, and invoice receipt notifications are fired.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167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Database Design (ER Diagram)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4A90E2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16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0A0"/>
                </a:solidFill>
                <a:latin typeface="Arial"/>
              </a:defRPr>
            </a:pPr>
            <a:r>
              <a:t>AgroVeda MCA Major Project</a:t>
            </a:r>
          </a:p>
        </p:txBody>
      </p:sp>
      <p:pic>
        <p:nvPicPr>
          <p:cNvPr id="6" name="Picture 5" descr="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486400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0" y="16459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03030"/>
                </a:solidFill>
                <a:latin typeface="Arial"/>
              </a:defRPr>
            </a:pPr>
            <a:r>
              <a:t>• Our database schema consists of six core relational tables:</a:t>
            </a:r>
          </a:p>
          <a:p>
            <a:pPr>
              <a:spcAft>
                <a:spcPts val="1200"/>
              </a:spcAft>
              <a:defRPr sz="1600">
                <a:solidFill>
                  <a:srgbClr val="303030"/>
                </a:solidFill>
                <a:latin typeface="Arial"/>
              </a:defRPr>
            </a:pPr>
            <a:r>
              <a:t>• USERS: Holds registration emails, passwords hashes, and metadata.</a:t>
            </a:r>
          </a:p>
          <a:p>
            <a:pPr>
              <a:spcAft>
                <a:spcPts val="1200"/>
              </a:spcAft>
              <a:defRPr sz="1600">
                <a:solidFill>
                  <a:srgbClr val="303030"/>
                </a:solidFill>
                <a:latin typeface="Arial"/>
              </a:defRPr>
            </a:pPr>
            <a:r>
              <a:t>• USER_ROLES: Handles role permissions (admin vs. customer).</a:t>
            </a:r>
          </a:p>
          <a:p>
            <a:pPr>
              <a:spcAft>
                <a:spcPts val="1200"/>
              </a:spcAft>
              <a:defRPr sz="1600">
                <a:solidFill>
                  <a:srgbClr val="303030"/>
                </a:solidFill>
                <a:latin typeface="Arial"/>
              </a:defRPr>
            </a:pPr>
            <a:r>
              <a:t>• PRODUCTS: Holds product detail metadata (prices, units, usage, names in Hindi/English).</a:t>
            </a:r>
          </a:p>
          <a:p>
            <a:pPr>
              <a:spcAft>
                <a:spcPts val="1200"/>
              </a:spcAft>
              <a:defRPr sz="1600">
                <a:solidFill>
                  <a:srgbClr val="303030"/>
                </a:solidFill>
                <a:latin typeface="Arial"/>
              </a:defRPr>
            </a:pPr>
            <a:r>
              <a:t>• CART_ITEMS: Maps user shopping baskets (product reference, quantities).</a:t>
            </a:r>
          </a:p>
          <a:p>
            <a:pPr>
              <a:spcAft>
                <a:spcPts val="1200"/>
              </a:spcAft>
              <a:defRPr sz="1600">
                <a:solidFill>
                  <a:srgbClr val="303030"/>
                </a:solidFill>
                <a:latin typeface="Arial"/>
              </a:defRPr>
            </a:pPr>
            <a:r>
              <a:t>• ORDERS: Logs final checkout transactions (customer phone, address, timestamp, status, amounts).</a:t>
            </a:r>
          </a:p>
          <a:p>
            <a:pPr>
              <a:spcAft>
                <a:spcPts val="1200"/>
              </a:spcAft>
              <a:defRPr sz="1600">
                <a:solidFill>
                  <a:srgbClr val="303030"/>
                </a:solidFill>
                <a:latin typeface="Arial"/>
              </a:defRPr>
            </a:pPr>
            <a:r>
              <a:t>• ORDER_ITEMS: Captures product snapshot details inside orders.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167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Core Backend Algorithms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4A90E2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16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0A0"/>
                </a:solidFill>
                <a:latin typeface="Arial"/>
              </a:defRPr>
            </a:pPr>
            <a:r>
              <a:t>AgroVeda MCA Major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03030"/>
                </a:solidFill>
                <a:latin typeface="Arial"/>
              </a:defRPr>
            </a:pPr>
            <a:r>
              <a:t>• 1. Authentication &amp; Security (JWT Flow):</a:t>
            </a:r>
          </a:p>
          <a:p>
            <a:pPr>
              <a:spcAft>
                <a:spcPts val="1400"/>
              </a:spcAft>
              <a:defRPr sz="1400">
                <a:solidFill>
                  <a:srgbClr val="303030"/>
                </a:solidFill>
                <a:latin typeface="Arial"/>
              </a:defRPr>
            </a:pPr>
            <a:r>
              <a:t>•    - Customer password hashed on signup using bcryptjs with a work factor of 10.</a:t>
            </a:r>
          </a:p>
          <a:p>
            <a:pPr>
              <a:spcAft>
                <a:spcPts val="1400"/>
              </a:spcAft>
              <a:defRPr sz="1400">
                <a:solidFill>
                  <a:srgbClr val="303030"/>
                </a:solidFill>
                <a:latin typeface="Arial"/>
              </a:defRPr>
            </a:pPr>
            <a:r>
              <a:t>•    - On successful login, server creates a JWT payload containing { userId, email, role } signed using HMAC-SHA256 with a private key, returning an authorization token.</a:t>
            </a:r>
          </a:p>
          <a:p>
            <a:pPr>
              <a:spcAft>
                <a:spcPts val="1400"/>
              </a:spcAft>
              <a:defRPr sz="1400">
                <a:solidFill>
                  <a:srgbClr val="303030"/>
                </a:solidFill>
                <a:latin typeface="Arial"/>
              </a:defRPr>
            </a:pPr>
            <a:r>
              <a:t>•    - Auth Middleware intercepts private routes, decodes headers Bearer tokens, and sets context parameters.</a:t>
            </a:r>
          </a:p>
          <a:p>
            <a:pPr>
              <a:spcAft>
                <a:spcPts val="1400"/>
              </a:spcAft>
              <a:defRPr sz="1400">
                <a:solidFill>
                  <a:srgbClr val="303030"/>
                </a:solidFill>
                <a:latin typeface="Arial"/>
              </a:defRPr>
            </a:pPr>
            <a:r>
              <a:t>• 2. Razorpay Signature Verification Algorithm:</a:t>
            </a:r>
          </a:p>
          <a:p>
            <a:pPr>
              <a:spcAft>
                <a:spcPts val="1400"/>
              </a:spcAft>
              <a:defRPr sz="1400">
                <a:solidFill>
                  <a:srgbClr val="303030"/>
                </a:solidFill>
                <a:latin typeface="Arial"/>
              </a:defRPr>
            </a:pPr>
            <a:r>
              <a:t>•    - When Razorpay completes a transaction, it returns: razorpay_order_id, razorpay_payment_id, and razorpay_signature.</a:t>
            </a:r>
          </a:p>
          <a:p>
            <a:pPr>
              <a:spcAft>
                <a:spcPts val="1400"/>
              </a:spcAft>
              <a:defRPr sz="1400">
                <a:solidFill>
                  <a:srgbClr val="303030"/>
                </a:solidFill>
                <a:latin typeface="Arial"/>
              </a:defRPr>
            </a:pPr>
            <a:r>
              <a:t>•    - The server computes the expected signature using HMAC-SHA256:</a:t>
            </a:r>
          </a:p>
          <a:p>
            <a:pPr>
              <a:spcAft>
                <a:spcPts val="1400"/>
              </a:spcAft>
              <a:defRPr sz="1400">
                <a:solidFill>
                  <a:srgbClr val="303030"/>
                </a:solidFill>
                <a:latin typeface="Arial"/>
              </a:defRPr>
            </a:pPr>
            <a:r>
              <a:t>•      signature = HMAC_SHA256(order_id + '|' + payment_id, secret_key)</a:t>
            </a:r>
          </a:p>
          <a:p>
            <a:pPr>
              <a:spcAft>
                <a:spcPts val="1400"/>
              </a:spcAft>
              <a:defRPr sz="1400">
                <a:solidFill>
                  <a:srgbClr val="303030"/>
                </a:solidFill>
                <a:latin typeface="Arial"/>
              </a:defRPr>
            </a:pPr>
            <a:r>
              <a:t>•    - If expected signature matches razorpay_signature, order is verified.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167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User Interface Modules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4A90E2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16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0A0"/>
                </a:solidFill>
                <a:latin typeface="Arial"/>
              </a:defRPr>
            </a:pPr>
            <a:r>
              <a:t>AgroVeda MCA Major Project</a:t>
            </a:r>
          </a:p>
        </p:txBody>
      </p:sp>
      <p:pic>
        <p:nvPicPr>
          <p:cNvPr id="6" name="Picture 5" descr="use_cas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486400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0" y="16459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03030"/>
                </a:solidFill>
                <a:latin typeface="Arial"/>
              </a:defRPr>
            </a:pPr>
            <a:r>
              <a:t>• Homepage Module: Features a bilingual sliding banner showing seasonal recommendations, and a category grid to filter fertilizers and fungicides.</a:t>
            </a:r>
          </a:p>
          <a:p>
            <a:pPr>
              <a:spcAft>
                <a:spcPts val="1200"/>
              </a:spcAft>
              <a:defRPr sz="1600">
                <a:solidFill>
                  <a:srgbClr val="303030"/>
                </a:solidFill>
                <a:latin typeface="Arial"/>
              </a:defRPr>
            </a:pPr>
            <a:r>
              <a:t>• Product Catalogue: Dual-language support toggle. Displays crop usage descriptions, ratings, pricing, and bulk offers (e.g. Buy 5 Get 1 Free).</a:t>
            </a:r>
          </a:p>
          <a:p>
            <a:pPr>
              <a:spcAft>
                <a:spcPts val="1200"/>
              </a:spcAft>
              <a:defRPr sz="1600">
                <a:solidFill>
                  <a:srgbClr val="303030"/>
                </a:solidFill>
                <a:latin typeface="Arial"/>
              </a:defRPr>
            </a:pPr>
            <a:r>
              <a:t>• Cart &amp; Checkout: Address entry validation using Zod schemas, mobile validation (Indian mobile structure check), and payment mode selection.</a:t>
            </a:r>
          </a:p>
          <a:p>
            <a:pPr>
              <a:spcAft>
                <a:spcPts val="1200"/>
              </a:spcAft>
              <a:defRPr sz="1600">
                <a:solidFill>
                  <a:srgbClr val="303030"/>
                </a:solidFill>
                <a:latin typeface="Arial"/>
              </a:defRPr>
            </a:pPr>
            <a:r>
              <a:t>• Order Confirmation Screen: Simulates Razorpay transaction receipt rendering invoice items and details.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167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Admin Order &amp; Sales Registry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4A90E2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16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0A0"/>
                </a:solidFill>
                <a:latin typeface="Arial"/>
              </a:defRPr>
            </a:pPr>
            <a:r>
              <a:t>AgroVeda MCA Major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303030"/>
                </a:solidFill>
                <a:latin typeface="Arial"/>
              </a:defRPr>
            </a:pPr>
            <a:r>
              <a:t>• Admin Dashboard now supports a dual-panel layout:</a:t>
            </a:r>
          </a:p>
          <a:p>
            <a:pPr>
              <a:spcAft>
                <a:spcPts val="1400"/>
              </a:spcAft>
              <a:defRPr sz="1500">
                <a:solidFill>
                  <a:srgbClr val="303030"/>
                </a:solidFill>
                <a:latin typeface="Arial"/>
              </a:defRPr>
            </a:pPr>
            <a:r>
              <a:t>• 1. Product Inventory Manager: Admin can create new items (names, category, price, Hindi description) and delete existing ones.</a:t>
            </a:r>
          </a:p>
          <a:p>
            <a:pPr>
              <a:spcAft>
                <a:spcPts val="1400"/>
              </a:spcAft>
              <a:defRPr sz="1500">
                <a:solidFill>
                  <a:srgbClr val="303030"/>
                </a:solidFill>
                <a:latin typeface="Arial"/>
              </a:defRPr>
            </a:pPr>
            <a:r>
              <a:t>• 2. Order &amp; Sales Summary Registry: Displays key sales statistics (Total Revenue, total orders counts, completed/COD counts).</a:t>
            </a:r>
          </a:p>
          <a:p>
            <a:pPr>
              <a:spcAft>
                <a:spcPts val="1400"/>
              </a:spcAft>
              <a:defRPr sz="1500">
                <a:solidFill>
                  <a:srgbClr val="303030"/>
                </a:solidFill>
                <a:latin typeface="Arial"/>
              </a:defRPr>
            </a:pPr>
            <a:r>
              <a:t>• 3. Full Buy Summary: Lists all orders dynamically. Each record contains:</a:t>
            </a:r>
          </a:p>
          <a:p>
            <a:pPr>
              <a:spcAft>
                <a:spcPts val="1400"/>
              </a:spcAft>
              <a:defRPr sz="1500">
                <a:solidFill>
                  <a:srgbClr val="303030"/>
                </a:solidFill>
                <a:latin typeface="Arial"/>
              </a:defRPr>
            </a:pPr>
            <a:r>
              <a:t>•    - Order number and purchase timestamp (formatted to Indian Standard Time).</a:t>
            </a:r>
          </a:p>
          <a:p>
            <a:pPr>
              <a:spcAft>
                <a:spcPts val="1400"/>
              </a:spcAft>
              <a:defRPr sz="1500">
                <a:solidFill>
                  <a:srgbClr val="303030"/>
                </a:solidFill>
                <a:latin typeface="Arial"/>
              </a:defRPr>
            </a:pPr>
            <a:r>
              <a:t>•    - Customer credentials: Name, Phone Number, and complete shipping address.</a:t>
            </a:r>
          </a:p>
          <a:p>
            <a:pPr>
              <a:spcAft>
                <a:spcPts val="1400"/>
              </a:spcAft>
              <a:defRPr sz="1500">
                <a:solidFill>
                  <a:srgbClr val="303030"/>
                </a:solidFill>
                <a:latin typeface="Arial"/>
              </a:defRPr>
            </a:pPr>
            <a:r>
              <a:t>•    - Detailed bill calculations: Subtotals, discount deductions, and final paid values.</a:t>
            </a:r>
          </a:p>
          <a:p>
            <a:pPr>
              <a:spcAft>
                <a:spcPts val="1400"/>
              </a:spcAft>
              <a:defRPr sz="1500">
                <a:solidFill>
                  <a:srgbClr val="303030"/>
                </a:solidFill>
                <a:latin typeface="Arial"/>
              </a:defRPr>
            </a:pPr>
            <a:r>
              <a:t>•    - Interactive Order Status manager dropdown (Change order from pending -&gt; processing -&gt; delivered -&gt; cancelled).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167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Advantages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4A90E2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16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0A0"/>
                </a:solidFill>
                <a:latin typeface="Arial"/>
              </a:defRPr>
            </a:pPr>
            <a:r>
              <a:t>AgroVeda MCA Major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B365D"/>
                </a:solidFill>
                <a:latin typeface="Arial"/>
              </a:defRPr>
            </a:pPr>
            <a:r>
              <a:t>Key Advantages</a:t>
            </a:r>
          </a:p>
          <a:p>
            <a:pPr>
              <a:spcAft>
                <a:spcPts val="1000"/>
              </a:spcAft>
              <a:defRPr sz="1600">
                <a:solidFill>
                  <a:srgbClr val="303030"/>
                </a:solidFill>
                <a:latin typeface="Arial"/>
              </a:defRPr>
            </a:pPr>
            <a:r>
              <a:t>• Direct Procurement: Removes retail agent layers, reducing input purchase cost by 15-20%.</a:t>
            </a:r>
          </a:p>
          <a:p>
            <a:pPr>
              <a:spcAft>
                <a:spcPts val="1000"/>
              </a:spcAft>
              <a:defRPr sz="1600">
                <a:solidFill>
                  <a:srgbClr val="303030"/>
                </a:solidFill>
                <a:latin typeface="Arial"/>
              </a:defRPr>
            </a:pPr>
            <a:r>
              <a:t>• Accessibility: Simple bilingual layout works smoothly on mobile browsers.</a:t>
            </a:r>
          </a:p>
          <a:p>
            <a:pPr>
              <a:spcAft>
                <a:spcPts val="1000"/>
              </a:spcAft>
              <a:defRPr sz="1600">
                <a:solidFill>
                  <a:srgbClr val="303030"/>
                </a:solidFill>
                <a:latin typeface="Arial"/>
              </a:defRPr>
            </a:pPr>
            <a:r>
              <a:t>• Transparency: Fixed pricing with instant invoice summaries.</a:t>
            </a:r>
          </a:p>
          <a:p>
            <a:pPr>
              <a:spcAft>
                <a:spcPts val="1000"/>
              </a:spcAft>
              <a:defRPr sz="1600">
                <a:solidFill>
                  <a:srgbClr val="303030"/>
                </a:solidFill>
                <a:latin typeface="Arial"/>
              </a:defRPr>
            </a:pPr>
            <a:r>
              <a:t>• Security: Safe role-based admin panels and verified payment gateway check.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B365D"/>
                </a:solidFill>
                <a:latin typeface="Arial"/>
              </a:defRPr>
            </a:pPr>
            <a:r>
              <a:t>Future Scope &amp; Enhancements</a:t>
            </a:r>
          </a:p>
          <a:p>
            <a:pPr>
              <a:spcAft>
                <a:spcPts val="1000"/>
              </a:spcAft>
              <a:defRPr sz="1600">
                <a:solidFill>
                  <a:srgbClr val="303030"/>
                </a:solidFill>
                <a:latin typeface="Arial"/>
              </a:defRPr>
            </a:pPr>
            <a:r>
              <a:t>• AI Crop Advisor: Recommendation engine based on local soil health test details.</a:t>
            </a:r>
          </a:p>
          <a:p>
            <a:pPr>
              <a:spcAft>
                <a:spcPts val="1000"/>
              </a:spcAft>
              <a:defRPr sz="1600">
                <a:solidFill>
                  <a:srgbClr val="303030"/>
                </a:solidFill>
                <a:latin typeface="Arial"/>
              </a:defRPr>
            </a:pPr>
            <a:r>
              <a:t>• Voice Search: Multi-lingual voice recognition queries for illiterate farmers.</a:t>
            </a:r>
          </a:p>
          <a:p>
            <a:pPr>
              <a:spcAft>
                <a:spcPts val="1000"/>
              </a:spcAft>
              <a:defRPr sz="1600">
                <a:solidFill>
                  <a:srgbClr val="303030"/>
                </a:solidFill>
                <a:latin typeface="Arial"/>
              </a:defRPr>
            </a:pPr>
            <a:r>
              <a:t>• WhatsApp API Integration: Automated dispatch alerts sent directly to phone numbers.</a:t>
            </a:r>
          </a:p>
          <a:p>
            <a:pPr>
              <a:spcAft>
                <a:spcPts val="1000"/>
              </a:spcAft>
              <a:defRPr sz="1600">
                <a:solidFill>
                  <a:srgbClr val="303030"/>
                </a:solidFill>
                <a:latin typeface="Arial"/>
              </a:defRPr>
            </a:pPr>
            <a:r>
              <a:t>• Multi-Vendor Marketplace: Allow verified local manufacturers to sell directly.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167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Conclusion &amp;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4A90E2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16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0A0"/>
                </a:solidFill>
                <a:latin typeface="Arial"/>
              </a:defRPr>
            </a:pPr>
            <a:r>
              <a:t>AgroVeda MCA Major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03030"/>
                </a:solidFill>
                <a:latin typeface="Arial"/>
              </a:defRPr>
            </a:pPr>
            <a:r>
              <a:t>• Conclusion:</a:t>
            </a:r>
          </a:p>
          <a:p>
            <a:pPr>
              <a:spcAft>
                <a:spcPts val="1400"/>
              </a:spcAft>
              <a:defRPr sz="1400">
                <a:solidFill>
                  <a:srgbClr val="303030"/>
                </a:solidFill>
                <a:latin typeface="Arial"/>
              </a:defRPr>
            </a:pPr>
            <a:r>
              <a:t>•    - AgroVeda successfully delivers a scalable, type-safe e-commerce solution for agricultural distribution.</a:t>
            </a:r>
          </a:p>
          <a:p>
            <a:pPr>
              <a:spcAft>
                <a:spcPts val="1400"/>
              </a:spcAft>
              <a:defRPr sz="1400">
                <a:solidFill>
                  <a:srgbClr val="303030"/>
                </a:solidFill>
                <a:latin typeface="Arial"/>
              </a:defRPr>
            </a:pPr>
            <a:r>
              <a:t>•    - Demonstrated the practical application of React, Node.js, Express, and PostgreSQL/In-Memory DB.</a:t>
            </a:r>
          </a:p>
          <a:p>
            <a:pPr>
              <a:spcAft>
                <a:spcPts val="1400"/>
              </a:spcAft>
              <a:defRPr sz="1400">
                <a:solidFill>
                  <a:srgbClr val="303030"/>
                </a:solidFill>
                <a:latin typeface="Arial"/>
              </a:defRPr>
            </a:pPr>
            <a:r>
              <a:t>•    - Bridged the rural digital gap using bilingual catalog design and interactive Razorpay/COD flows.</a:t>
            </a:r>
          </a:p>
          <a:p>
            <a:pPr>
              <a:spcAft>
                <a:spcPts val="1400"/>
              </a:spcAft>
              <a:defRPr sz="1400">
                <a:solidFill>
                  <a:srgbClr val="303030"/>
                </a:solidFill>
                <a:latin typeface="Arial"/>
              </a:defRPr>
            </a:pPr>
            <a:r>
              <a:t>•    - Empowered administrators with dynamic sales tracking and order status monitoring dashboards.</a:t>
            </a:r>
          </a:p>
          <a:p>
            <a:pPr>
              <a:spcAft>
                <a:spcPts val="1400"/>
              </a:spcAft>
              <a:defRPr sz="1400">
                <a:solidFill>
                  <a:srgbClr val="303030"/>
                </a:solidFill>
                <a:latin typeface="Arial"/>
              </a:defRPr>
            </a:pPr>
            <a:r>
              <a:t>• References:</a:t>
            </a:r>
          </a:p>
          <a:p>
            <a:pPr>
              <a:spcAft>
                <a:spcPts val="1400"/>
              </a:spcAft>
              <a:defRPr sz="1400">
                <a:solidFill>
                  <a:srgbClr val="303030"/>
                </a:solidFill>
                <a:latin typeface="Arial"/>
              </a:defRPr>
            </a:pPr>
            <a:r>
              <a:t>•    - React 18 and Vite Documentation: https://react.dev | https://vite.dev</a:t>
            </a:r>
          </a:p>
          <a:p>
            <a:pPr>
              <a:spcAft>
                <a:spcPts val="1400"/>
              </a:spcAft>
              <a:defRPr sz="1400">
                <a:solidFill>
                  <a:srgbClr val="303030"/>
                </a:solidFill>
                <a:latin typeface="Arial"/>
              </a:defRPr>
            </a:pPr>
            <a:r>
              <a:t>•    - Express.js Node Routing API Reference: https://expressjs.com</a:t>
            </a:r>
          </a:p>
          <a:p>
            <a:pPr>
              <a:spcAft>
                <a:spcPts val="1400"/>
              </a:spcAft>
              <a:defRPr sz="1400">
                <a:solidFill>
                  <a:srgbClr val="303030"/>
                </a:solidFill>
                <a:latin typeface="Arial"/>
              </a:defRPr>
            </a:pPr>
            <a:r>
              <a:t>•    - PostgreSQL client driver documentation: https://node-postgres.com</a:t>
            </a:r>
          </a:p>
          <a:p>
            <a:pPr>
              <a:spcAft>
                <a:spcPts val="1400"/>
              </a:spcAft>
              <a:defRPr sz="1400">
                <a:solidFill>
                  <a:srgbClr val="303030"/>
                </a:solidFill>
                <a:latin typeface="Arial"/>
              </a:defRPr>
            </a:pPr>
            <a:r>
              <a:t>•    - Razorpay Web checkout integration APIs: https://razorpay.com/docs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